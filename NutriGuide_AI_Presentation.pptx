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1a2b6abe4243a6" /><Relationship Type="http://schemas.openxmlformats.org/package/2006/relationships/metadata/core-properties" Target="/docProps/core.xml" Id="Rb45b3077f5644a0c" /><Relationship Type="http://schemas.openxmlformats.org/officeDocument/2006/relationships/extended-properties" Target="/docProps/app.xml" Id="Re5971ee5f691467c" /><Relationship Type="http://schemas.openxmlformats.org/officeDocument/2006/relationships/custom-properties" Target="/docProps/custom.xml" Id="R7c02641fe32b417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08cafb70f734c8e"/>
  </p:notesMasterIdLst>
  <p:sldIdLst>
    <p:sldId id="256" r:id="R0478cedaeaa24183"/>
    <p:sldId id="257" r:id="Redcefca6468e4ffc"/>
    <p:sldId id="258" r:id="Re4af873fb5d94c57"/>
    <p:sldId id="259" r:id="R19c8dae5e19c4518"/>
    <p:sldId id="260" r:id="Rce8b2b78b8304d2e"/>
    <p:sldId id="261" r:id="R2c3e1787cf1c4954"/>
    <p:sldId id="262" r:id="R44e34349498d4f13"/>
    <p:sldId id="263" r:id="Rfb06468693ff4f08"/>
    <p:sldId id="264" r:id="R3f0e52e920fd41f3"/>
    <p:sldId id="265" r:id="R8f92933e5d714e86"/>
    <p:sldId id="266" r:id="Rd9cfd8b0fdbb454c"/>
    <p:sldId id="267" r:id="R1669cbfa1fde428c"/>
    <p:sldId id="268" r:id="R46e9bf3e3b104bc4"/>
    <p:sldId id="269" r:id="Rd6e59c543a9d4c1f"/>
    <p:sldId id="270" r:id="R7adab2b1156b494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478cedaeaa24183" /><Relationship Type="http://schemas.openxmlformats.org/officeDocument/2006/relationships/notesMaster" Target="/ppt/notesMasters/notesMaster1.xml" Id="Rf08cafb70f734c8e" /><Relationship Type="http://schemas.openxmlformats.org/officeDocument/2006/relationships/slide" Target="/ppt/slides/slide2.xml" Id="Redcefca6468e4ffc" /><Relationship Type="http://schemas.openxmlformats.org/officeDocument/2006/relationships/slide" Target="/ppt/slides/slide3.xml" Id="Re4af873fb5d94c57" /><Relationship Type="http://schemas.openxmlformats.org/officeDocument/2006/relationships/slide" Target="/ppt/slides/slide4.xml" Id="R19c8dae5e19c4518" /><Relationship Type="http://schemas.openxmlformats.org/officeDocument/2006/relationships/slide" Target="/ppt/slides/slide5.xml" Id="Rce8b2b78b8304d2e" /><Relationship Type="http://schemas.openxmlformats.org/officeDocument/2006/relationships/slide" Target="/ppt/slides/slide6.xml" Id="R2c3e1787cf1c4954" /><Relationship Type="http://schemas.openxmlformats.org/officeDocument/2006/relationships/slide" Target="/ppt/slides/slide7.xml" Id="R44e34349498d4f13" /><Relationship Type="http://schemas.openxmlformats.org/officeDocument/2006/relationships/slide" Target="/ppt/slides/slide8.xml" Id="Rfb06468693ff4f08" /><Relationship Type="http://schemas.openxmlformats.org/officeDocument/2006/relationships/slide" Target="/ppt/slides/slide9.xml" Id="R3f0e52e920fd41f3" /><Relationship Type="http://schemas.openxmlformats.org/officeDocument/2006/relationships/slide" Target="/ppt/slides/slide10.xml" Id="R8f92933e5d714e86" /><Relationship Type="http://schemas.openxmlformats.org/officeDocument/2006/relationships/slide" Target="/ppt/slides/slide11.xml" Id="Rd9cfd8b0fdbb454c" /><Relationship Type="http://schemas.openxmlformats.org/officeDocument/2006/relationships/slide" Target="/ppt/slides/slide12.xml" Id="R1669cbfa1fde428c" /><Relationship Type="http://schemas.openxmlformats.org/officeDocument/2006/relationships/slide" Target="/ppt/slides/slide13.xml" Id="R46e9bf3e3b104bc4" /><Relationship Type="http://schemas.openxmlformats.org/officeDocument/2006/relationships/slide" Target="/ppt/slides/slide14.xml" Id="Rd6e59c543a9d4c1f" /><Relationship Type="http://schemas.openxmlformats.org/officeDocument/2006/relationships/slide" Target="/ppt/slides/slide15.xml" Id="R7adab2b1156b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0c0c363ee84bc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e179a1de6c64a79" /><Relationship Type="http://schemas.openxmlformats.org/officeDocument/2006/relationships/slide" Target="/ppt/slides/slide1.xml" Id="R3b47f95d55534a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b22708618346a0" /><Relationship Type="http://schemas.openxmlformats.org/officeDocument/2006/relationships/slide" Target="/ppt/slides/slide2.xml" Id="Rd4e06648e8e8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dc6746a67142dc" /><Relationship Type="http://schemas.openxmlformats.org/officeDocument/2006/relationships/slide" Target="/ppt/slides/slide3.xml" Id="R499098cc0cc64f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1f7d4ee66b46cf" /><Relationship Type="http://schemas.openxmlformats.org/officeDocument/2006/relationships/slide" Target="/ppt/slides/slide4.xml" Id="R9a704d1e0876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890adc53b934724" /><Relationship Type="http://schemas.openxmlformats.org/officeDocument/2006/relationships/slide" Target="/ppt/slides/slide5.xml" Id="Rf51b744a6f8740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ed25ed98ca438f" /><Relationship Type="http://schemas.openxmlformats.org/officeDocument/2006/relationships/slide" Target="/ppt/slides/slide6.xml" Id="R9b19baae42a94b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c6c15dc64348f1" /><Relationship Type="http://schemas.openxmlformats.org/officeDocument/2006/relationships/slide" Target="/ppt/slides/slide7.xml" Id="R164a15a06bc0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a8fec08b5c427b" /><Relationship Type="http://schemas.openxmlformats.org/officeDocument/2006/relationships/slide" Target="/ppt/slides/slide8.xml" Id="R13bedb378f574e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86d0c8f0914b52" /><Relationship Type="http://schemas.openxmlformats.org/officeDocument/2006/relationships/slide" Target="/ppt/slides/slide9.xml" Id="Rca629e71d919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f43f4abcd664e5e" /><Relationship Type="http://schemas.openxmlformats.org/officeDocument/2006/relationships/slide" Target="/ppt/slides/slide10.xml" Id="R84cf2a78ca084b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ae178e939849cd" /><Relationship Type="http://schemas.openxmlformats.org/officeDocument/2006/relationships/slide" Target="/ppt/slides/slide11.xml" Id="R2a7e57037cf24c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8e67fc81d54fbb" /><Relationship Type="http://schemas.openxmlformats.org/officeDocument/2006/relationships/slide" Target="/ppt/slides/slide12.xml" Id="R8706fbfd8ee14a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56f6452bdab4711" /><Relationship Type="http://schemas.openxmlformats.org/officeDocument/2006/relationships/slide" Target="/ppt/slides/slide13.xml" Id="R1ad99abd05ae47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192fd933fd4349" /><Relationship Type="http://schemas.openxmlformats.org/officeDocument/2006/relationships/slide" Target="/ppt/slides/slide14.xml" Id="R7eca75c1b32d42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2b0e539d5f4356" /><Relationship Type="http://schemas.openxmlformats.org/officeDocument/2006/relationships/slide" Target="/ppt/slides/slide15.xml" Id="R3f479e4297f3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to NutriGuide AI — a full-stack Agentic AI application built with IBM Granite LLM via IBM watsonx.ai. This presentation covers the project overview, architecture, sample plan output, guardrails, API, ethics, and GitHub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NutriGuide AI addresses the gap in personalized nutrition guidance. It uses IBM Granite as the LLM brain, with a Python Flask backend and an HTML/CSS/JS frontend. It runs in demo mode without IBM credentials.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core problem: personalized nutrition guidance is expensive, inaccessible, and generic. NutriGuide AI solves this by combining IBM Granite LLM with a user health profile to generate tailored, medically aware 7-day plans instantly.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tech stack has three layers: IBM Granite LLM for AI generation, Python Flask for the REST API backend, and plain HTML/CSS/JS for the frontend. No heavy frontend framework needed — keeps it simple and deployable anywhere.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project follows all 9 phases of the Agentic AI SDLC. Phase 4 (Guardrails) and Phase 5 (Model Integration) are the most critical — they ensure safety and accuracy of the AI-generated nutrition advice.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architecture is a classic three-tier web app: HTML/JS frontend, Flask REST backend, and IBM Granite LLM. The GuardrailEngine sits between the user and the LLM, and the PlanExporter saves generated plans as .md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web app has three tabs. Tab 1 is the main planner where users enter their health profile. Tab 2 is the agentic chat for follow-up questions. Tab 3 is the About page with SDLC phases, ethics, and GitHub setup.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slide shows a sample generated plan. The plan includes a nutritional overview, 7 days of meals with calorie counts, hydration guidelines, foods to emphasize/avoid, supplement suggestions, lifestyle tips, and a mandatory medical disclaimer.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actual sample plan from plans/sample_nutrition_plan_priya_sharma.md. It demonstrates diabetes-specific nutrition planning: low GI focus, fenugreek water, karela, and calorie-controlled meals averaging ~1,490 kcal/day.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GuardrailEngine implements 4 layers of safety: input validation, prompt injection detection, harmful query blocking, and output sanitization. This ensures the AI never produces dangerous or harmful nutritional advice.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Flask backend exposes 5 REST endpoints. The most important is POST /api/generate-plan which drives the entire plan generation flow. The health endpoint is useful for deployment monitoring.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AI ethics is built into the core of NutriGuide AI. The HAM principles guide all LLM prompting. Responsible AI principles ensure transparency, fairness, privacy, and human oversight throughout the application.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18 files were pushed to GitHub in two commits. The .gitignore protects secrets (.env), virtual environment, cache files, and runtime-generated plans while keeping the sample plan for demonstration purposes.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three prompts have been completed successfully. The application is running, the GitHub repository is live, and this presentation covers the complete project. Key technical achievement: Python 3.13 compatibility with ibm-watsonx-ai 1.8.0.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 for viewing the NutriGuide AI presentation. All project files are available on GitHub. The app runs locally at localhost:5000 in demo mode without any IBM API credentials required.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36584e2ff4c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1800c20d647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ba111c77c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2fcf16b1c45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abc4dbc7047d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754f0734a1445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94651252244df" /><Relationship Type="http://schemas.openxmlformats.org/officeDocument/2006/relationships/notesSlide" Target="/ppt/notesSlides/notesSlide1.xml" Id="R7f5de13dae8b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9fa35ce1540fb" /><Relationship Type="http://schemas.openxmlformats.org/officeDocument/2006/relationships/notesSlide" Target="/ppt/notesSlides/notesSlide2.xml" Id="R32bb57ce461f4f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a64e9fab74156" /><Relationship Type="http://schemas.openxmlformats.org/officeDocument/2006/relationships/notesSlide" Target="/ppt/notesSlides/notesSlide3.xml" Id="R3d149a5d647144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10f52f69b4e6d" /><Relationship Type="http://schemas.openxmlformats.org/officeDocument/2006/relationships/notesSlide" Target="/ppt/notesSlides/notesSlide4.xml" Id="R79f67c64bd244f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3aff780f44b4" /><Relationship Type="http://schemas.openxmlformats.org/officeDocument/2006/relationships/notesSlide" Target="/ppt/notesSlides/notesSlide5.xml" Id="Rf1316f9b4ed2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c07142804f3c" /><Relationship Type="http://schemas.openxmlformats.org/officeDocument/2006/relationships/notesSlide" Target="/ppt/notesSlides/notesSlide6.xml" Id="R3e4cc29bfbf0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8bdea361442d4" /><Relationship Type="http://schemas.openxmlformats.org/officeDocument/2006/relationships/notesSlide" Target="/ppt/notesSlides/notesSlide7.xml" Id="R99538b3fb3c4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eea2827e94beb" /><Relationship Type="http://schemas.openxmlformats.org/officeDocument/2006/relationships/notesSlide" Target="/ppt/notesSlides/notesSlide8.xml" Id="R7a936a7f6cf648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6fac916b94bb0" /><Relationship Type="http://schemas.openxmlformats.org/officeDocument/2006/relationships/notesSlide" Target="/ppt/notesSlides/notesSlide9.xml" Id="R8be4aed9b34f4b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c43b415bc4cd0" /><Relationship Type="http://schemas.openxmlformats.org/officeDocument/2006/relationships/notesSlide" Target="/ppt/notesSlides/notesSlide10.xml" Id="Ra120852fdab44e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738ae871e4c1c" /><Relationship Type="http://schemas.openxmlformats.org/officeDocument/2006/relationships/notesSlide" Target="/ppt/notesSlides/notesSlide11.xml" Id="R046d776fa95a43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74f233d564e92" /><Relationship Type="http://schemas.openxmlformats.org/officeDocument/2006/relationships/notesSlide" Target="/ppt/notesSlides/notesSlide12.xml" Id="R7d93783e259e43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595ac68a4cf5" /><Relationship Type="http://schemas.openxmlformats.org/officeDocument/2006/relationships/notesSlide" Target="/ppt/notesSlides/notesSlide13.xml" Id="R7f1c7f4b9ad94f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d61583014416" /><Relationship Type="http://schemas.openxmlformats.org/officeDocument/2006/relationships/notesSlide" Target="/ppt/notesSlides/notesSlide14.xml" Id="Re8b52035d40546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923fdd5ac46d0" /><Relationship Type="http://schemas.openxmlformats.org/officeDocument/2006/relationships/notesSlide" Target="/ppt/notesSlides/notesSlide15.xml" Id="R4463ae3e81f944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6213E"/>
              </a:solidFill>
            </a:endParaRPr>
          </a:p>
        </p:txBody>
      </p:sp>
      <p:sp>
        <p:nvSpPr>
          <p:cNvPr id="100001" name="BottomAccent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02" name="LogoIcon"/>
          <p:cNvSpPr txBox="1"/>
          <p:nvPr/>
        </p:nvSpPr>
        <p:spPr>
          <a:xfrm xmlns:a="http://schemas.openxmlformats.org/drawingml/2006/main">
            <a:off x="4860000" y="72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</a:rPr>
              <a:t>🥗</a:t>
            </a:r>
          </a:p>
        </p:txBody>
      </p:sp>
      <p:sp>
        <p:nvSpPr>
          <p:cNvPr id="100003" name="Title"/>
          <p:cNvSpPr txBox="1"/>
          <p:nvPr/>
        </p:nvSpPr>
        <p:spPr>
          <a:xfrm xmlns:a="http://schemas.openxmlformats.org/drawingml/2006/main">
            <a:off x="720000" y="1872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200" b="1">
                <a:solidFill>
                  <a:srgbClr val="FFFFFF"/>
                </a:solidFill>
              </a:rPr>
              <a:t>NutriGuide AI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720000" y="3024000"/>
            <a:ext cx="1080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A8D8EA"/>
                </a:solidFill>
              </a:rPr>
              <a:t>Personalized Nutrition Agentic Application</a:t>
            </a:r>
          </a:p>
        </p:txBody>
      </p:sp>
      <p:sp>
        <p:nvSpPr>
          <p:cNvPr id="100005" name="PoweredBy"/>
          <p:cNvSpPr txBox="1"/>
          <p:nvPr/>
        </p:nvSpPr>
        <p:spPr>
          <a:xfrm xmlns:a="http://schemas.openxmlformats.org/drawingml/2006/main">
            <a:off x="720000" y="36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E94560"/>
                </a:solidFill>
              </a:rPr>
              <a:t>Powered by IBM Granite LLM  ·  IBM watsonx.ai</a:t>
            </a:r>
          </a:p>
        </p:txBody>
      </p:sp>
      <p:sp>
        <p:nvSpPr>
          <p:cNvPr id="100006" name="Tagline"/>
          <p:cNvSpPr txBox="1"/>
          <p:nvPr/>
        </p:nvSpPr>
        <p:spPr>
          <a:xfrm xmlns:a="http://schemas.openxmlformats.org/drawingml/2006/main">
            <a:off x="720000" y="410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8D8E8"/>
                </a:solidFill>
              </a:rPr>
              <a:t>Agentic AI SDLC  ·  HAM Principles  ·  AI Ethics  ·  Responsible AI</a:t>
            </a:r>
          </a:p>
        </p:txBody>
      </p:sp>
      <p:sp>
        <p:nvSpPr>
          <p:cNvPr id="100007" name="AuthorLine"/>
          <p:cNvSpPr txBox="1"/>
          <p:nvPr/>
        </p:nvSpPr>
        <p:spPr>
          <a:xfrm xmlns:a="http://schemas.openxmlformats.org/drawingml/2006/main">
            <a:off x="720000" y="594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8899AA"/>
                </a:solidFill>
              </a:rPr>
              <a:t>IBM SkillBuild Project  |  2024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8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09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10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00011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02</a:t>
            </a:r>
          </a:p>
        </p:txBody>
      </p:sp>
      <p:sp>
        <p:nvSpPr>
          <p:cNvPr id="100012" name="WhatBox"/>
          <p:cNvSpPr txBox="1"/>
          <p:nvPr/>
        </p:nvSpPr>
        <p:spPr>
          <a:xfrm xmlns:a="http://schemas.openxmlformats.org/drawingml/2006/main">
            <a:off x="360000" y="1008000"/>
            <a:ext cx="72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A1A2E"/>
                </a:solidFill>
              </a:rPr>
              <a:t>What is NutriGuide AI?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</a:rPr>
              <a:t>NutriGuide AI is a web-based Agentic AI application that generates personalized 7-day nutrition plans using IBM Granite LLM (via IBM watsonx.ai).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</a:rPr>
              <a:t>Users fill in their health profile — age, diet preference, medical history, activity level — and the AI agent creates a complete, medically aware nutrition plan in seconds.</a:t>
            </a:r>
          </a:p>
        </p:txBody>
      </p:sp>
      <p:sp>
        <p:nvSpPr>
          <p:cNvPr id="100013" name="KeyFeat"/>
          <p:cNvSpPr txBox="1"/>
          <p:nvPr/>
        </p:nvSpPr>
        <p:spPr>
          <a:xfrm xmlns:a="http://schemas.openxmlformats.org/drawingml/2006/main">
            <a:off x="7920000" y="1008000"/>
            <a:ext cx="396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Key Features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7-Day Personalized Meal Plans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IBM Granite 13B LLM Integration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Medical Condition Awareness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      (Diabetes, Hypertension &amp; more)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Agentic AI Chat (Q&amp;A)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AI Ethics &amp; Guardrails (HAM)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Download Plan as .md File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Demo Mode (no API key needed)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 Responsive Web UI</a:t>
            </a:r>
          </a:p>
        </p:txBody>
      </p:sp>
      <p:sp>
        <p:nvSpPr>
          <p:cNvPr id="100014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5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16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17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Problem Statement &amp; Solution</a:t>
            </a:r>
          </a:p>
        </p:txBody>
      </p:sp>
      <p:sp>
        <p:nvSpPr>
          <p:cNvPr id="100018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03</a:t>
            </a:r>
          </a:p>
        </p:txBody>
      </p:sp>
      <p:sp>
        <p:nvSpPr>
          <p:cNvPr id="100019" name="ProbLabel"/>
          <p:cNvSpPr txBox="1"/>
          <p:nvPr/>
        </p:nvSpPr>
        <p:spPr>
          <a:xfrm xmlns:a="http://schemas.openxmlformats.org/drawingml/2006/main">
            <a:off x="360000" y="1008000"/>
            <a:ext cx="55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E94560"/>
                </a:solidFill>
              </a:rPr>
              <a:t>THE PROBLEM</a:t>
            </a:r>
          </a:p>
        </p:txBody>
      </p:sp>
      <p:sp>
        <p:nvSpPr>
          <p:cNvPr id="100020" name="ProbBox"/>
          <p:cNvSpPr txBox="1"/>
          <p:nvPr/>
        </p:nvSpPr>
        <p:spPr>
          <a:xfrm xmlns:a="http://schemas.openxmlformats.org/drawingml/2006/main">
            <a:off x="360000" y="1296000"/>
            <a:ext cx="55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Generic nutrition advice ignores individual health conditions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Professional dietitians are expensive and inaccessible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No awareness of cultural diet preferences (Indian, vegetarian, etc.)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No real-time Q&amp;A for follow-up nutrition questions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Existing apps lack medical condition awareness (diabetes, hypertension)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❌  Manually created plans are time-consuming and non-personalized</a:t>
            </a:r>
          </a:p>
        </p:txBody>
      </p:sp>
      <p:sp>
        <p:nvSpPr>
          <p:cNvPr id="100021" name="SolLabel"/>
          <p:cNvSpPr txBox="1"/>
          <p:nvPr/>
        </p:nvSpPr>
        <p:spPr>
          <a:xfrm xmlns:a="http://schemas.openxmlformats.org/drawingml/2006/main">
            <a:off x="6300000" y="1008000"/>
            <a:ext cx="55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F3460"/>
                </a:solidFill>
              </a:rPr>
              <a:t>OUR SOLUTION</a:t>
            </a:r>
          </a:p>
        </p:txBody>
      </p:sp>
      <p:sp>
        <p:nvSpPr>
          <p:cNvPr id="100022" name="SolBox"/>
          <p:cNvSpPr txBox="1"/>
          <p:nvPr/>
        </p:nvSpPr>
        <p:spPr>
          <a:xfrm xmlns:a="http://schemas.openxmlformats.org/drawingml/2006/main">
            <a:off x="6300000" y="1296000"/>
            <a:ext cx="55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IBM Granite LLM for intelligent, personalized plans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User profile collects age, diet, medical history, goals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Medical-condition-aware recommendations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Culturally inclusive (vegetarian, Indian diet options)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Real-time agentic chat for follow-up questions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AI Ethics guardrails prevent harmful advice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</a:rPr>
              <a:t>✅  Free demo mode — works without IBM credentials</a:t>
            </a:r>
          </a:p>
        </p:txBody>
      </p:sp>
      <p:sp>
        <p:nvSpPr>
          <p:cNvPr id="100023" name="TargetUsers"/>
          <p:cNvSpPr txBox="1"/>
          <p:nvPr/>
        </p:nvSpPr>
        <p:spPr>
          <a:xfrm xmlns:a="http://schemas.openxmlformats.org/drawingml/2006/main">
            <a:off x="360000" y="3960000"/>
            <a:ext cx="115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Target Users:  Health-conscious individuals  ·  Diabetic / hypertensive patients  ·  Fitness enthusiasts  ·  Vegetarians seeking structured meal plans</a:t>
            </a:r>
          </a:p>
        </p:txBody>
      </p:sp>
      <p:sp>
        <p:nvSpPr>
          <p:cNvPr id="100024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26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27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0028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04</a:t>
            </a:r>
          </a:p>
        </p:txBody>
      </p:sp>
      <p:sp>
        <p:nvSpPr>
          <p:cNvPr id="100029" name="AIBox"/>
          <p:cNvSpPr txBox="1"/>
          <p:nvPr/>
        </p:nvSpPr>
        <p:spPr>
          <a:xfrm xmlns:a="http://schemas.openxmlformats.org/drawingml/2006/main">
            <a:off x="360000" y="1008000"/>
            <a:ext cx="378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🧠  AI &amp; LLM Layer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Model: IBM Granite 13B Instruct v2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Platform: IBM watsonx.ai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SDK: ibm-watsonx-ai 1.8.0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Mode: Text generation (GenAI)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Fallback: Demo/mock mode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Params: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Max tokens: 1,200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Temperature: 0.7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Top-P: 0.9</a:t>
            </a:r>
          </a:p>
        </p:txBody>
      </p:sp>
      <p:sp>
        <p:nvSpPr>
          <p:cNvPr id="100030" name="BackendBox"/>
          <p:cNvSpPr txBox="1"/>
          <p:nvPr/>
        </p:nvSpPr>
        <p:spPr>
          <a:xfrm xmlns:a="http://schemas.openxmlformats.org/drawingml/2006/main">
            <a:off x="4500000" y="1008000"/>
            <a:ext cx="360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🐍  Backend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Language: Python 3.11+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Framework: Flask 3.0.3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CORS: flask-cors 4.0.1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Env: python-dotenv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HTTP: requests 2.32.3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Export: markdown 3.6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Modules: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NutritionAgent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GuardrailEngine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PlanExporter</a:t>
            </a:r>
          </a:p>
        </p:txBody>
      </p:sp>
      <p:sp>
        <p:nvSpPr>
          <p:cNvPr id="100031" name="FrontendBox"/>
          <p:cNvSpPr txBox="1"/>
          <p:nvPr/>
        </p:nvSpPr>
        <p:spPr>
          <a:xfrm xmlns:a="http://schemas.openxmlformats.org/drawingml/2006/main">
            <a:off x="8460000" y="1008000"/>
            <a:ext cx="342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🌐  Frontend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HTML5 semantic markup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CSS3 with flexbox/grid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Vanilla JavaScript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Responsive design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Tab-based navigation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Screens: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Planner (profile form)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Ask NutriGuide (chat)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About (SDLC info)</a:t>
            </a:r>
          </a:p>
        </p:txBody>
      </p:sp>
      <p:sp>
        <p:nvSpPr>
          <p:cNvPr id="100032" name="DeployBox"/>
          <p:cNvSpPr txBox="1"/>
          <p:nvPr/>
        </p:nvSpPr>
        <p:spPr>
          <a:xfrm xmlns:a="http://schemas.openxmlformats.org/drawingml/2006/main">
            <a:off x="360000" y="4608000"/>
            <a:ext cx="115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F3460"/>
                </a:solidFill>
              </a:rPr>
              <a:t>📦  Deployment:  Windows .bat launcher  ·  Virtual environment (venv)  ·  GitHub repository  ·  Flask dev server (localhost:5000)</a:t>
            </a:r>
          </a:p>
        </p:txBody>
      </p:sp>
      <p:sp>
        <p:nvSpPr>
          <p:cNvPr id="100033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4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35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36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Agentic AI SDLC — 9 Phases</a:t>
            </a:r>
          </a:p>
        </p:txBody>
      </p:sp>
      <p:sp>
        <p:nvSpPr>
          <p:cNvPr id="100037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05</a:t>
            </a:r>
          </a:p>
        </p:txBody>
      </p:sp>
      <p:sp>
        <p:nvSpPr>
          <p:cNvPr id="100038" name="P1"/>
          <p:cNvSpPr txBox="1"/>
          <p:nvPr/>
        </p:nvSpPr>
        <p:spPr>
          <a:xfrm xmlns:a="http://schemas.openxmlformats.org/drawingml/2006/main">
            <a:off x="360000" y="1008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1. Problem Identification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Personalized nutrition guidance gap for health-conscious users with medical conditions</a:t>
            </a:r>
          </a:p>
        </p:txBody>
      </p:sp>
      <p:sp>
        <p:nvSpPr>
          <p:cNvPr id="100039" name="P2"/>
          <p:cNvSpPr txBox="1"/>
          <p:nvPr/>
        </p:nvSpPr>
        <p:spPr>
          <a:xfrm xmlns:a="http://schemas.openxmlformats.org/drawingml/2006/main">
            <a:off x="6300000" y="1008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2. Agent Design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NutritionAgent class with IBM Granite LLM persona 'NutriGuide' + system prompt with HAM principles</a:t>
            </a:r>
          </a:p>
        </p:txBody>
      </p:sp>
      <p:sp>
        <p:nvSpPr>
          <p:cNvPr id="100040" name="P3"/>
          <p:cNvSpPr txBox="1"/>
          <p:nvPr/>
        </p:nvSpPr>
        <p:spPr>
          <a:xfrm xmlns:a="http://schemas.openxmlformats.org/drawingml/2006/main">
            <a:off x="360000" y="1944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3. Data Collection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Structured web form: name, age, gender, city, country, diet preference, medical history, allergies, goals, activity</a:t>
            </a:r>
          </a:p>
        </p:txBody>
      </p:sp>
      <p:sp>
        <p:nvSpPr>
          <p:cNvPr id="100041" name="P4"/>
          <p:cNvSpPr txBox="1"/>
          <p:nvPr/>
        </p:nvSpPr>
        <p:spPr>
          <a:xfrm xmlns:a="http://schemas.openxmlformats.org/drawingml/2006/main">
            <a:off x="6300000" y="1944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4. Safety &amp; Guardrails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GuardrailEngine: input validation, prompt injection detection, harmful query filter, output sanitization</a:t>
            </a:r>
          </a:p>
        </p:txBody>
      </p:sp>
      <p:sp>
        <p:nvSpPr>
          <p:cNvPr id="100042" name="P5"/>
          <p:cNvSpPr txBox="1"/>
          <p:nvPr/>
        </p:nvSpPr>
        <p:spPr>
          <a:xfrm xmlns:a="http://schemas.openxmlformats.org/drawingml/2006/main">
            <a:off x="360000" y="2880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5. Model Integration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IBM Granite 13B Instruct v2 via ibm-watsonx-ai SDK, max_tokens=1200, temp=0.7, stop sequences</a:t>
            </a:r>
          </a:p>
        </p:txBody>
      </p:sp>
      <p:sp>
        <p:nvSpPr>
          <p:cNvPr id="100043" name="P6"/>
          <p:cNvSpPr txBox="1"/>
          <p:nvPr/>
        </p:nvSpPr>
        <p:spPr>
          <a:xfrm xmlns:a="http://schemas.openxmlformats.org/drawingml/2006/main">
            <a:off x="6300000" y="2880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6. Development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Flask REST API (5 endpoints) + HTML/CSS/JS frontend with 3 tabs: Planner, Chat, About</a:t>
            </a:r>
          </a:p>
        </p:txBody>
      </p:sp>
      <p:sp>
        <p:nvSpPr>
          <p:cNvPr id="100044" name="P7"/>
          <p:cNvSpPr txBox="1"/>
          <p:nvPr/>
        </p:nvSpPr>
        <p:spPr>
          <a:xfrm xmlns:a="http://schemas.openxmlformats.org/drawingml/2006/main">
            <a:off x="360000" y="3816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7. Testing &amp; Validation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Demo/mock mode fallback, error handling on all endpoints, API health check endpoint</a:t>
            </a:r>
          </a:p>
        </p:txBody>
      </p:sp>
      <p:sp>
        <p:nvSpPr>
          <p:cNvPr id="100045" name="P8"/>
          <p:cNvSpPr txBox="1"/>
          <p:nvPr/>
        </p:nvSpPr>
        <p:spPr>
          <a:xfrm xmlns:a="http://schemas.openxmlformats.org/drawingml/2006/main">
            <a:off x="6300000" y="3816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8. Deployment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run.bat one-click Windows launcher: auto-creates venv, installs deps, copies .env, starts server</a:t>
            </a:r>
          </a:p>
        </p:txBody>
      </p:sp>
      <p:sp>
        <p:nvSpPr>
          <p:cNvPr id="100046" name="P9"/>
          <p:cNvSpPr txBox="1"/>
          <p:nvPr/>
        </p:nvSpPr>
        <p:spPr>
          <a:xfrm xmlns:a="http://schemas.openxmlformats.org/drawingml/2006/main">
            <a:off x="2880000" y="4752000"/>
            <a:ext cx="64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9. Monitoring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Python logging (INFO/WARNING/ERROR), structured JSON error responses, guardrail warning logs</a:t>
            </a:r>
          </a:p>
        </p:txBody>
      </p:sp>
      <p:sp>
        <p:nvSpPr>
          <p:cNvPr id="100047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8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49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50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00051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06</a:t>
            </a:r>
          </a:p>
        </p:txBody>
      </p:sp>
      <p:sp>
        <p:nvSpPr>
          <p:cNvPr id="100052" name="UserBox"/>
          <p:cNvSpPr txBox="1"/>
          <p:nvPr/>
        </p:nvSpPr>
        <p:spPr>
          <a:xfrm xmlns:a="http://schemas.openxmlformats.org/drawingml/2006/main">
            <a:off x="360000" y="1080000"/>
            <a:ext cx="21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👤 USER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Web Browser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(HTML/CSS/JS)</a:t>
            </a:r>
          </a:p>
        </p:txBody>
      </p:sp>
      <p:sp>
        <p:nvSpPr>
          <p:cNvPr id="100053" name="Arrow1"/>
          <p:cNvSpPr txBox="1"/>
          <p:nvPr/>
        </p:nvSpPr>
        <p:spPr>
          <a:xfrm xmlns:a="http://schemas.openxmlformats.org/drawingml/2006/main">
            <a:off x="2628000" y="1512000"/>
            <a:ext cx="16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0F3460"/>
                </a:solidFill>
              </a:rPr>
              <a:t>HTTP POST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0F3460"/>
                </a:solidFill>
              </a:rPr>
              <a:t>/api/generate-plan</a:t>
            </a:r>
          </a:p>
        </p:txBody>
      </p:sp>
      <p:sp>
        <p:nvSpPr>
          <p:cNvPr id="100054" name="FlaskBox"/>
          <p:cNvSpPr txBox="1"/>
          <p:nvPr/>
        </p:nvSpPr>
        <p:spPr>
          <a:xfrm xmlns:a="http://schemas.openxmlformats.org/drawingml/2006/main">
            <a:off x="4320000" y="1080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🐍 FLASK API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app.py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5 REST endpoints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Input validation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100055" name="Arrow2"/>
          <p:cNvSpPr txBox="1"/>
          <p:nvPr/>
        </p:nvSpPr>
        <p:spPr>
          <a:xfrm xmlns:a="http://schemas.openxmlformats.org/drawingml/2006/main">
            <a:off x="6948000" y="1512000"/>
            <a:ext cx="16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0F3460"/>
                </a:solidFill>
              </a:rPr>
              <a:t>generate_text()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0F3460"/>
                </a:solidFill>
              </a:rPr>
              <a:t>prompt</a:t>
            </a:r>
          </a:p>
        </p:txBody>
      </p:sp>
      <p:sp>
        <p:nvSpPr>
          <p:cNvPr id="100056" name="IBMBox"/>
          <p:cNvSpPr txBox="1"/>
          <p:nvPr/>
        </p:nvSpPr>
        <p:spPr>
          <a:xfrm xmlns:a="http://schemas.openxmlformats.org/drawingml/2006/main">
            <a:off x="8640000" y="1080000"/>
            <a:ext cx="30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🧠 IBM GRANITE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Granite 13B Instruct v2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watsonx.ai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Demo mock fallback</a:t>
            </a:r>
          </a:p>
        </p:txBody>
      </p:sp>
      <p:sp>
        <p:nvSpPr>
          <p:cNvPr id="100057" name="GuardBox"/>
          <p:cNvSpPr txBox="1"/>
          <p:nvPr/>
        </p:nvSpPr>
        <p:spPr>
          <a:xfrm xmlns:a="http://schemas.openxmlformats.org/drawingml/2006/main">
            <a:off x="1800000" y="2700000"/>
            <a:ext cx="86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🛡️ GUARDRAIL ENGINE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Input validation  ·  Injection detection  ·  Harmful query filter  ·  Output sanitization  ·  Medical disclaimer injection</a:t>
            </a:r>
          </a:p>
        </p:txBody>
      </p:sp>
      <p:sp>
        <p:nvSpPr>
          <p:cNvPr id="100058" name="ExportBox"/>
          <p:cNvSpPr txBox="1"/>
          <p:nvPr/>
        </p:nvSpPr>
        <p:spPr>
          <a:xfrm xmlns:a="http://schemas.openxmlformats.org/drawingml/2006/main">
            <a:off x="1800000" y="3600000"/>
            <a:ext cx="86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0F3460"/>
                </a:solidFill>
              </a:rPr>
              <a:t>📄 PLAN EXPORTER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0F3460"/>
                </a:solidFill>
              </a:rPr>
              <a:t>Exports .md files to /plans/ directory  ·  Downloadable via /api/download-plan/&lt;filename&gt;</a:t>
            </a:r>
          </a:p>
        </p:txBody>
      </p:sp>
      <p:sp>
        <p:nvSpPr>
          <p:cNvPr id="100059" name="FlowLabel"/>
          <p:cNvSpPr txBox="1"/>
          <p:nvPr/>
        </p:nvSpPr>
        <p:spPr>
          <a:xfrm xmlns:a="http://schemas.openxmlformats.org/drawingml/2006/main">
            <a:off x="360000" y="4392000"/>
            <a:ext cx="115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F3460"/>
                </a:solidFill>
              </a:rPr>
              <a:t>Data Flow:  User fills form  →  Flask validates (Guardrails)  →  Prompt built  →  IBM Granite generates  →  Output sanitized  →  Plan displayed + exported</a:t>
            </a:r>
          </a:p>
        </p:txBody>
      </p:sp>
      <p:sp>
        <p:nvSpPr>
          <p:cNvPr id="100060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1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62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63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UI Walkthrough — Web Application</a:t>
            </a:r>
          </a:p>
        </p:txBody>
      </p:sp>
      <p:sp>
        <p:nvSpPr>
          <p:cNvPr id="100064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07</a:t>
            </a:r>
          </a:p>
        </p:txBody>
      </p:sp>
      <p:sp>
        <p:nvSpPr>
          <p:cNvPr id="100065" name="Tab1Label"/>
          <p:cNvSpPr txBox="1"/>
          <p:nvPr/>
        </p:nvSpPr>
        <p:spPr>
          <a:xfrm xmlns:a="http://schemas.openxmlformats.org/drawingml/2006/main">
            <a:off x="360000" y="1008000"/>
            <a:ext cx="36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TAB 1: NUTRITION PLANNER</a:t>
            </a:r>
          </a:p>
        </p:txBody>
      </p:sp>
      <p:sp>
        <p:nvSpPr>
          <p:cNvPr id="100066" name="Tab1Content"/>
          <p:cNvSpPr txBox="1"/>
          <p:nvPr/>
        </p:nvSpPr>
        <p:spPr>
          <a:xfrm xmlns:a="http://schemas.openxmlformats.org/drawingml/2006/main">
            <a:off x="360000" y="1260000"/>
            <a:ext cx="36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📋 User Profile Form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Full Name, Age, Gender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City, Country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Diet Preference (8 options)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Activity Level (5 levels)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Medical History (free text)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Food Allergies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Health Goals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[Generate My Nutrition Plan] button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On submit: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Validates via GuardrailEngine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Sends POST /api/generate-plan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Shows loading spinner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Displays formatted plan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Download .md button appears</a:t>
            </a:r>
          </a:p>
        </p:txBody>
      </p:sp>
      <p:sp>
        <p:nvSpPr>
          <p:cNvPr id="100067" name="Tab2Label"/>
          <p:cNvSpPr txBox="1"/>
          <p:nvPr/>
        </p:nvSpPr>
        <p:spPr>
          <a:xfrm xmlns:a="http://schemas.openxmlformats.org/drawingml/2006/main">
            <a:off x="4392000" y="1008000"/>
            <a:ext cx="36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TAB 2: ASK NUTRIGUIDE (CHAT)</a:t>
            </a:r>
          </a:p>
        </p:txBody>
      </p:sp>
      <p:sp>
        <p:nvSpPr>
          <p:cNvPr id="100068" name="Tab2Content"/>
          <p:cNvSpPr txBox="1"/>
          <p:nvPr/>
        </p:nvSpPr>
        <p:spPr>
          <a:xfrm xmlns:a="http://schemas.openxmlformats.org/drawingml/2006/main">
            <a:off x="4392000" y="1260000"/>
            <a:ext cx="36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💬 Agentic Q&amp;A Interface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Pre-loaded greeting from NutriGuide AI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Quick-chip suggestions: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Foods for diabetes?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Daily protein needs?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Foods for BP?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Vegetarian weight loss?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Anti-inflammatory foods?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User types question → POST /api/chat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GuardrailEngine checks for harm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IBM Granite answers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→ Response shown in chat bubble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Persists user profile as context</a:t>
            </a:r>
          </a:p>
        </p:txBody>
      </p:sp>
      <p:sp>
        <p:nvSpPr>
          <p:cNvPr id="100069" name="Tab3Label"/>
          <p:cNvSpPr txBox="1"/>
          <p:nvPr/>
        </p:nvSpPr>
        <p:spPr>
          <a:xfrm xmlns:a="http://schemas.openxmlformats.org/drawingml/2006/main">
            <a:off x="8424000" y="1008000"/>
            <a:ext cx="34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TAB 3: ABOUT</a:t>
            </a:r>
          </a:p>
        </p:txBody>
      </p:sp>
      <p:sp>
        <p:nvSpPr>
          <p:cNvPr id="100070" name="Tab3Content"/>
          <p:cNvSpPr txBox="1"/>
          <p:nvPr/>
        </p:nvSpPr>
        <p:spPr>
          <a:xfrm xmlns:a="http://schemas.openxmlformats.org/drawingml/2006/main">
            <a:off x="8424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ℹ️ Project Information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About This Application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Agentic AI SDLC Phases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AI Ethics &amp; Responsible AI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Technology Stack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Medical Disclaimer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GitHub Setup Steps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All 6 sections shown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as expandable info cards</a:t>
            </a:r>
          </a:p>
        </p:txBody>
      </p:sp>
      <p:sp>
        <p:nvSpPr>
          <p:cNvPr id="100071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2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73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74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Sample Output — Generated Nutrition Plan</a:t>
            </a:r>
          </a:p>
        </p:txBody>
      </p:sp>
      <p:sp>
        <p:nvSpPr>
          <p:cNvPr id="100075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08</a:t>
            </a:r>
          </a:p>
        </p:txBody>
      </p:sp>
      <p:sp>
        <p:nvSpPr>
          <p:cNvPr id="100076" name="PlanHeader"/>
          <p:cNvSpPr txBox="1"/>
          <p:nvPr/>
        </p:nvSpPr>
        <p:spPr>
          <a:xfrm xmlns:a="http://schemas.openxmlformats.org/drawingml/2006/main">
            <a:off x="360000" y="1008000"/>
            <a:ext cx="115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7-Day Nutrition Plan Output (Demo Mode)  ·  Vegetarian User  ·  General Wellness</a:t>
            </a:r>
          </a:p>
        </p:txBody>
      </p:sp>
      <p:sp>
        <p:nvSpPr>
          <p:cNvPr id="100077" name="NutriOverview"/>
          <p:cNvSpPr txBox="1"/>
          <p:nvPr/>
        </p:nvSpPr>
        <p:spPr>
          <a:xfrm xmlns:a="http://schemas.openxmlformats.org/drawingml/2006/main">
            <a:off x="360000" y="1368000"/>
            <a:ext cx="36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📊 NUTRITIONAL OVERVIEW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Daily Calories:  ~1,800–2,000 kcal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Protein:            25–30%  (~112–150g)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Carbohydrates:  45–50%  (~202–250g)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Healthy Fats:     20–25%  (~40–55g)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Fiber:                ≥25g/day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Sodium:            &lt;2,300mg/day</a:t>
            </a:r>
          </a:p>
        </p:txBody>
      </p:sp>
      <p:sp>
        <p:nvSpPr>
          <p:cNvPr id="100078" name="MealPlanSample"/>
          <p:cNvSpPr txBox="1"/>
          <p:nvPr/>
        </p:nvSpPr>
        <p:spPr>
          <a:xfrm xmlns:a="http://schemas.openxmlformats.org/drawingml/2006/main">
            <a:off x="4320000" y="1368000"/>
            <a:ext cx="468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🍽️ SAMPLE DAYS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Day 1 — Monday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Breakfast:  Oatmeal + berries + chia  (~350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Snack:       Apple + 10 almonds  (~150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Lunch:       Brown rice + dal + salad  (~550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Snack:       Carrot sticks + hummus  (~120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Dinner:      Tofu + broccoli + quinoa  (~450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Day 2 — Tuesday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Breakfast:  Greek yogurt + banana + flaxseeds (~320)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Lunch:       Whole wheat roti + chickpea curry (~500)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Dinner:      Paneer tikka + roasted veg + rice (~480)</a:t>
            </a:r>
          </a:p>
        </p:txBody>
      </p:sp>
      <p:sp>
        <p:nvSpPr>
          <p:cNvPr id="100079" name="FoodsPanel"/>
          <p:cNvSpPr txBox="1"/>
          <p:nvPr/>
        </p:nvSpPr>
        <p:spPr>
          <a:xfrm xmlns:a="http://schemas.openxmlformats.org/drawingml/2006/main">
            <a:off x="9360000" y="1368000"/>
            <a:ext cx="25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✅ FOODS TO EMPHASIZE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Leafy greens (spinach, kale, methi)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Whole grains (brown rice, quinoa, oats)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Legumes (lentils, chickpeas, rajma)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Berries (blueberries, strawberries)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Nuts &amp; seeds (almonds, flaxseeds)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Fermented foods (yogurt, buttermilk)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• Turmeric &amp; ginger (anti-inflammatory)</a:t>
            </a:r>
          </a:p>
        </p:txBody>
      </p:sp>
      <p:sp>
        <p:nvSpPr>
          <p:cNvPr id="100080" name="LifestylePanel"/>
          <p:cNvSpPr txBox="1"/>
          <p:nvPr/>
        </p:nvSpPr>
        <p:spPr>
          <a:xfrm xmlns:a="http://schemas.openxmlformats.org/drawingml/2006/main">
            <a:off x="360000" y="3672000"/>
            <a:ext cx="11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0F3460"/>
                </a:solidFill>
              </a:rPr>
              <a:t>🌟 LIFESTYLE TIPS  +  💧 HYDRATION  +  ⚕️ DISCLAIMER</a:t>
            </a:r>
          </a:p>
          <a:p xmlns:a="http://schemas.openxmlformats.org/drawingml/2006/main">
            <a:r>
              <a:rPr lang="en-US" sz="1300">
                <a:solidFill>
                  <a:srgbClr val="0F3460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0F3460"/>
                </a:solidFill>
              </a:rPr>
              <a:t>Drink 8–10 glasses water daily  ·  Walk 30 min/day  ·  Sleep 7–8 hours  ·  Meal prep on Sundays  ·  Eat mindfully</a:t>
            </a:r>
          </a:p>
          <a:p xmlns:a="http://schemas.openxmlformats.org/drawingml/2006/main">
            <a:r>
              <a:rPr lang="en-US" sz="1300">
                <a:solidFill>
                  <a:srgbClr val="0F3460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0F3460"/>
                </a:solidFill>
              </a:rPr>
              <a:t>⚕️ AI-generated plan for informational purposes only. Consult a registered dietitian for medical decisions.</a:t>
            </a:r>
          </a:p>
        </p:txBody>
      </p:sp>
      <p:sp>
        <p:nvSpPr>
          <p:cNvPr id="100081" name="DownloadNote"/>
          <p:cNvSpPr txBox="1"/>
          <p:nvPr/>
        </p:nvSpPr>
        <p:spPr>
          <a:xfrm xmlns:a="http://schemas.openxmlformats.org/drawingml/2006/main">
            <a:off x="360000" y="4680000"/>
            <a:ext cx="115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⬇️  Plan exported as  nutrition_plan_&lt;name&gt;_&lt;date&gt;.md  and downloadable from  /api/download-plan/&lt;filename&gt;</a:t>
            </a:r>
          </a:p>
        </p:txBody>
      </p:sp>
      <p:sp>
        <p:nvSpPr>
          <p:cNvPr id="100082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3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84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85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900" b="1">
                <a:solidFill>
                  <a:srgbClr val="FFFFFF"/>
                </a:solidFill>
              </a:rPr>
              <a:t>Priya Sharma — Sample .md Plan (Diabetes Case)</a:t>
            </a:r>
          </a:p>
        </p:txBody>
      </p:sp>
      <p:sp>
        <p:nvSpPr>
          <p:cNvPr id="100086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09</a:t>
            </a:r>
          </a:p>
        </p:txBody>
      </p:sp>
      <p:sp>
        <p:nvSpPr>
          <p:cNvPr id="100087" name="ProfileBox"/>
          <p:cNvSpPr txBox="1"/>
          <p:nvPr/>
        </p:nvSpPr>
        <p:spPr>
          <a:xfrm xmlns:a="http://schemas.openxmlformats.org/drawingml/2006/main">
            <a:off x="360000" y="1008000"/>
            <a:ext cx="306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USER PROFILE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Name: Priya Sharma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Age: 35 | Female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Location: Mumbai, India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Diet: Vegetarian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Condition: Type 2 Diabetes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Generated: Jan 15, 2024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File: sample_nutrition_plan_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    priya_sharma.md</a:t>
            </a:r>
          </a:p>
        </p:txBody>
      </p:sp>
      <p:sp>
        <p:nvSpPr>
          <p:cNvPr id="100088" name="OverviewBox"/>
          <p:cNvSpPr txBox="1"/>
          <p:nvPr/>
        </p:nvSpPr>
        <p:spPr>
          <a:xfrm xmlns:a="http://schemas.openxmlformats.org/drawingml/2006/main">
            <a:off x="3780000" y="1008000"/>
            <a:ext cx="43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NUTRITIONAL OVERVIEW (Diabetes-Specific)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Daily Calories:  ~1,800 kcal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Protein:             25%  (~112g)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Carbohydrates:   45%  (Low GI only)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Healthy Fats:      20%  (~40g)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Fiber:                 ≥30g/day (blood sugar)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Sodium:             &lt;2,000mg/day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 Focus:           Low to Medium GI foods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⚠️ Low glycemic index foods prioritized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Limit refined carbs. Monitor blood sugar.</a:t>
            </a:r>
          </a:p>
        </p:txBody>
      </p:sp>
      <p:sp>
        <p:nvSpPr>
          <p:cNvPr id="100089" name="SuperFoods"/>
          <p:cNvSpPr txBox="1"/>
          <p:nvPr/>
        </p:nvSpPr>
        <p:spPr>
          <a:xfrm xmlns:a="http://schemas.openxmlformats.org/drawingml/2006/main">
            <a:off x="8460000" y="1008000"/>
            <a:ext cx="34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TOP DIABETES FOODS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1. Fenugreek (methi)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2. Bitter gourd (karela)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3. Cinnamon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4. Barley &amp; oats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5. Leafy greens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6. Legumes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7. Berries (low GI)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8. Amla (gooseberry)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9. Flaxseeds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10. Almonds &amp; walnuts</a:t>
            </a:r>
          </a:p>
        </p:txBody>
      </p:sp>
      <p:sp>
        <p:nvSpPr>
          <p:cNvPr id="100090" name="WeekPlan"/>
          <p:cNvSpPr txBox="1"/>
          <p:nvPr/>
        </p:nvSpPr>
        <p:spPr>
          <a:xfrm xmlns:a="http://schemas.openxmlformats.org/drawingml/2006/main">
            <a:off x="360000" y="4032000"/>
            <a:ext cx="1152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7-DAY MEALS SUMMARY  (Total ~1,400–1,570 kcal/day)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Mon: Oatmeal+chia  |  Dal+brown rice  |  Palak tofu+roti  (~1,520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Tue: Greek yogurt+pear  |  Quinoa khichdi  |  Moong dal soup  (~1,410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Wed: Vegetable upma  |  Rajma curry+roti  |  Paneer tikka  (~1,570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Thu: Spinach smoothie  |  Jowar roti+chana dal  |  Lentil stew  (~1,470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Fri: Poha with veg  |  Mixed dal+roti  |  Tofu bhurji  (~1,500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Sat: Idli+sambar  |  Veg biryani  |  Palak paneer  (~1,520 kcal)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</a:rPr>
              <a:t>Sun: Whole grain dosa  |  Chole+brown rice  |  Moong khichdi  (~1,465 kcal)</a:t>
            </a:r>
          </a:p>
        </p:txBody>
      </p:sp>
      <p:sp>
        <p:nvSpPr>
          <p:cNvPr id="100091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2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093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094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AI Safety — GuardrailEngine</a:t>
            </a:r>
          </a:p>
        </p:txBody>
      </p:sp>
      <p:sp>
        <p:nvSpPr>
          <p:cNvPr id="100095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10</a:t>
            </a:r>
          </a:p>
        </p:txBody>
      </p:sp>
      <p:sp>
        <p:nvSpPr>
          <p:cNvPr id="100096" name="Layer1"/>
          <p:cNvSpPr txBox="1"/>
          <p:nvPr/>
        </p:nvSpPr>
        <p:spPr>
          <a:xfrm xmlns:a="http://schemas.openxmlformats.org/drawingml/2006/main">
            <a:off x="360000" y="1008000"/>
            <a:ext cx="111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LAYER 1 — INPUT VALIDATION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Required fields check: name, age, diet_preference, city, country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Age range enforcement: 1–120 years only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Diet preference whitelist: vegetarian, vegan, keto, paleo, pescatarian, flexitarian, gluten-free, non-vegetarian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Name sanity check: max 100 chars, letters/spaces/hyphens only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Returns clear error messages to the user</a:t>
            </a:r>
          </a:p>
        </p:txBody>
      </p:sp>
      <p:sp>
        <p:nvSpPr>
          <p:cNvPr id="100097" name="Layer2"/>
          <p:cNvSpPr txBox="1"/>
          <p:nvPr/>
        </p:nvSpPr>
        <p:spPr>
          <a:xfrm xmlns:a="http://schemas.openxmlformats.org/drawingml/2006/main">
            <a:off x="360000" y="2376000"/>
            <a:ext cx="11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LAYER 2 — PROMPT INJECTION DETECTION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🔒 Blocked patterns detected in user input: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   • 'ignore previous instructions'  •  'jailbreak'  •  'pretend you are'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   •  'act as if'  •  '&lt;script'  •  'javascript:'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Returns: "Invalid input detected. Please provide genuine health information."</a:t>
            </a:r>
          </a:p>
        </p:txBody>
      </p:sp>
      <p:sp>
        <p:nvSpPr>
          <p:cNvPr id="100098" name="Layer3"/>
          <p:cNvSpPr txBox="1"/>
          <p:nvPr/>
        </p:nvSpPr>
        <p:spPr>
          <a:xfrm xmlns:a="http://schemas.openxmlformats.org/drawingml/2006/main">
            <a:off x="360000" y="3528000"/>
            <a:ext cx="1116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LAYER 3 — HARMFUL QUERY DETECTION  (Chat endpoint)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🚫 Blocked query patterns: suicide, self-harm, overdose, purge, bulimia, anorexia, starvation, extreme fasting, 0 calorie diet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Response: Safe redirect to 'consult a healthcare professional' message. No harmful advice returned.</a:t>
            </a:r>
          </a:p>
        </p:txBody>
      </p:sp>
      <p:sp>
        <p:nvSpPr>
          <p:cNvPr id="100099" name="Layer4"/>
          <p:cNvSpPr txBox="1"/>
          <p:nvPr/>
        </p:nvSpPr>
        <p:spPr>
          <a:xfrm xmlns:a="http://schemas.openxmlformats.org/drawingml/2006/main">
            <a:off x="360000" y="4608000"/>
            <a:ext cx="111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LAYER 4 — OUTPUT SANITIZATION  →  Strips AI artefacts: model tokens &lt;|...|&gt;, [INST] tags, excessive blank lines, repetitive AI disclaimers  ·  Mandatory medical disclaimer appended to every plan</a:t>
            </a:r>
          </a:p>
        </p:txBody>
      </p:sp>
      <p:sp>
        <p:nvSpPr>
          <p:cNvPr id="100100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1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102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103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REST API Endpoints</a:t>
            </a:r>
          </a:p>
        </p:txBody>
      </p:sp>
      <p:sp>
        <p:nvSpPr>
          <p:cNvPr id="100104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11</a:t>
            </a:r>
          </a:p>
        </p:txBody>
      </p:sp>
      <p:sp>
        <p:nvSpPr>
          <p:cNvPr id="100105" name="EP1"/>
          <p:cNvSpPr txBox="1"/>
          <p:nvPr/>
        </p:nvSpPr>
        <p:spPr>
          <a:xfrm xmlns:a="http://schemas.openxmlformats.org/drawingml/2006/main">
            <a:off x="360000" y="1008000"/>
            <a:ext cx="342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GET  /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Web Application Home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Serves index.html from /frontend/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Entry point for the web UI</a:t>
            </a:r>
          </a:p>
        </p:txBody>
      </p:sp>
      <p:sp>
        <p:nvSpPr>
          <p:cNvPr id="100106" name="EP2"/>
          <p:cNvSpPr txBox="1"/>
          <p:nvPr/>
        </p:nvSpPr>
        <p:spPr>
          <a:xfrm xmlns:a="http://schemas.openxmlformats.org/drawingml/2006/main">
            <a:off x="4140000" y="1008000"/>
            <a:ext cx="360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POST  /api/generate-plan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Generate 7-Day Nutrition Plan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Input: JSON user profile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GuardrailEngine validates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NutritionAgent generates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Output sanitized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.md file exported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Returns: plan text + filename</a:t>
            </a:r>
          </a:p>
        </p:txBody>
      </p:sp>
      <p:sp>
        <p:nvSpPr>
          <p:cNvPr id="100107" name="EP3"/>
          <p:cNvSpPr txBox="1"/>
          <p:nvPr/>
        </p:nvSpPr>
        <p:spPr>
          <a:xfrm xmlns:a="http://schemas.openxmlformats.org/drawingml/2006/main">
            <a:off x="8100000" y="1008000"/>
            <a:ext cx="37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POST  /api/chat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Agentic Q&amp;A Chat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Input: {message, user_profile}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Harmful query check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IBM Granite answers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→ Output sanitized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Returns: reply text</a:t>
            </a:r>
          </a:p>
        </p:txBody>
      </p:sp>
      <p:sp>
        <p:nvSpPr>
          <p:cNvPr id="100108" name="EP4"/>
          <p:cNvSpPr txBox="1"/>
          <p:nvPr/>
        </p:nvSpPr>
        <p:spPr>
          <a:xfrm xmlns:a="http://schemas.openxmlformats.org/drawingml/2006/main">
            <a:off x="360000" y="2700000"/>
            <a:ext cx="55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GET  /api/download-plan/&lt;filename&gt;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Download Generated Plan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Security: regex validates filename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(no path traversal allowed)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Serves .md from /plans/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As attachment (download)</a:t>
            </a:r>
          </a:p>
        </p:txBody>
      </p:sp>
      <p:sp>
        <p:nvSpPr>
          <p:cNvPr id="100109" name="EP5"/>
          <p:cNvSpPr txBox="1"/>
          <p:nvPr/>
        </p:nvSpPr>
        <p:spPr>
          <a:xfrm xmlns:a="http://schemas.openxmlformats.org/drawingml/2006/main">
            <a:off x="6300000" y="2700000"/>
            <a:ext cx="55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GET  /api/health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Service Health Check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Returns: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{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  'status': 'ok',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  'service': 'Nutrition Agentic AI',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  'model': 'IBM Granite'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}</a:t>
            </a:r>
          </a:p>
        </p:txBody>
      </p:sp>
      <p:sp>
        <p:nvSpPr>
          <p:cNvPr id="100110" name="BaseURL"/>
          <p:cNvSpPr txBox="1"/>
          <p:nvPr/>
        </p:nvSpPr>
        <p:spPr>
          <a:xfrm xmlns:a="http://schemas.openxmlformats.org/drawingml/2006/main">
            <a:off x="360000" y="4392000"/>
            <a:ext cx="115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Base URL:  http://localhost:5000  (default)  ·  All API responses are JSON  ·  CORS enabled (flask-cors)</a:t>
            </a:r>
          </a:p>
        </p:txBody>
      </p:sp>
      <p:sp>
        <p:nvSpPr>
          <p:cNvPr id="100111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2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113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114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AI Ethics &amp; Responsible AI</a:t>
            </a:r>
          </a:p>
        </p:txBody>
      </p:sp>
      <p:sp>
        <p:nvSpPr>
          <p:cNvPr id="100115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12</a:t>
            </a:r>
          </a:p>
        </p:txBody>
      </p:sp>
      <p:sp>
        <p:nvSpPr>
          <p:cNvPr id="100116" name="HAMTitle"/>
          <p:cNvSpPr txBox="1"/>
          <p:nvPr/>
        </p:nvSpPr>
        <p:spPr>
          <a:xfrm xmlns:a="http://schemas.openxmlformats.org/drawingml/2006/main">
            <a:off x="360000" y="1008000"/>
            <a:ext cx="11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HAM PRINCIPLES</a:t>
            </a:r>
          </a:p>
        </p:txBody>
      </p:sp>
      <p:sp>
        <p:nvSpPr>
          <p:cNvPr id="100117" name="HAMH"/>
          <p:cNvSpPr txBox="1"/>
          <p:nvPr/>
        </p:nvSpPr>
        <p:spPr>
          <a:xfrm xmlns:a="http://schemas.openxmlformats.org/drawingml/2006/main">
            <a:off x="360000" y="1332000"/>
            <a:ext cx="36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H — HELPFUL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Provides actionable, practical nutrition advice tailored to the individual user's health profile, dietary restrictions, cultural background, and personal goals.</a:t>
            </a:r>
          </a:p>
        </p:txBody>
      </p:sp>
      <p:sp>
        <p:nvSpPr>
          <p:cNvPr id="100118" name="HAMA"/>
          <p:cNvSpPr txBox="1"/>
          <p:nvPr/>
        </p:nvSpPr>
        <p:spPr>
          <a:xfrm xmlns:a="http://schemas.openxmlformats.org/drawingml/2006/main">
            <a:off x="4320000" y="1332000"/>
            <a:ext cx="36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A — ACCURATE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Recommendations are based on established nutritional science and evidence-based dietary guidelines. Uses IBM Granite as the trusted LLM backbone.</a:t>
            </a:r>
          </a:p>
        </p:txBody>
      </p:sp>
      <p:sp>
        <p:nvSpPr>
          <p:cNvPr id="100119" name="HAMM"/>
          <p:cNvSpPr txBox="1"/>
          <p:nvPr/>
        </p:nvSpPr>
        <p:spPr>
          <a:xfrm xmlns:a="http://schemas.openxmlformats.org/drawingml/2006/main">
            <a:off x="8280000" y="1332000"/>
            <a:ext cx="36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M — MINDFUL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Sensitive to medical conditions, cultural food practices, dietary preferences, and body diversity. Non-judgmental and inclusive in all responses.</a:t>
            </a:r>
          </a:p>
        </p:txBody>
      </p:sp>
      <p:sp>
        <p:nvSpPr>
          <p:cNvPr id="100120" name="EthicsTitle"/>
          <p:cNvSpPr txBox="1"/>
          <p:nvPr/>
        </p:nvSpPr>
        <p:spPr>
          <a:xfrm xmlns:a="http://schemas.openxmlformats.org/drawingml/2006/main">
            <a:off x="360000" y="3240000"/>
            <a:ext cx="11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RESPONSIBLE AI PRINCIPLES</a:t>
            </a:r>
          </a:p>
        </p:txBody>
      </p:sp>
      <p:sp>
        <p:nvSpPr>
          <p:cNvPr id="100121" name="EthicsGrid"/>
          <p:cNvSpPr txBox="1"/>
          <p:nvPr/>
        </p:nvSpPr>
        <p:spPr>
          <a:xfrm xmlns:a="http://schemas.openxmlformats.org/drawingml/2006/main">
            <a:off x="360000" y="3564000"/>
            <a:ext cx="11520000" cy="18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Transparency — All content clearly labeled as AI-generated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Harmlessness — Blocks dangerous, extreme, or self-harm dietary advice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Fairness — Inclusive of all dietary cultures, body types, and preferences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Privacy — Zero user data persistence; no PII stored beyond the session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Accountability — Mandatory medical disclaimer on every generated plan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Non-deception — No claim to replace doctors or registered dietitians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✅ Human oversight — Recommends professional consultation for medical conditions</a:t>
            </a:r>
          </a:p>
        </p:txBody>
      </p:sp>
      <p:sp>
        <p:nvSpPr>
          <p:cNvPr id="100122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3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124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125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GitHub Deployment &amp; Repository</a:t>
            </a:r>
          </a:p>
        </p:txBody>
      </p:sp>
      <p:sp>
        <p:nvSpPr>
          <p:cNvPr id="100126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13</a:t>
            </a:r>
          </a:p>
        </p:txBody>
      </p:sp>
      <p:sp>
        <p:nvSpPr>
          <p:cNvPr id="100127" name="RepoBox"/>
          <p:cNvSpPr txBox="1"/>
          <p:nvPr/>
        </p:nvSpPr>
        <p:spPr>
          <a:xfrm xmlns:a="http://schemas.openxmlformats.org/drawingml/2006/main">
            <a:off x="360000" y="1008000"/>
            <a:ext cx="558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GITHUB REPOSITORY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https://github.com/isamaliya16/Project_1_IBM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Branch:   main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Commits:  2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Files:    18 tracked files</a:t>
            </a:r>
          </a:p>
        </p:txBody>
      </p:sp>
      <p:sp>
        <p:nvSpPr>
          <p:cNvPr id="100128" name="FileListBox"/>
          <p:cNvSpPr txBox="1"/>
          <p:nvPr/>
        </p:nvSpPr>
        <p:spPr>
          <a:xfrm xmlns:a="http://schemas.openxmlformats.org/drawingml/2006/main">
            <a:off x="6300000" y="1008000"/>
            <a:ext cx="558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COMMITTED FILES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README.md  ·  .gitignore  ·  requirements.txt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nutrition_ai/app.py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nutrition_ai/requirements.txt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nutrition_ai/run.bat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nutrition_ai/.env.example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nutrition_ai/agents/nutrition_agent.py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nutrition_ai/utils/guardrails.py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nutrition_ai/utils/plan_exporter.py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nutrition_ai/frontend/{index.html, style.css, app.js}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nutrition_ai/plans/sample_nutrition_plan_priya_sharma.md</a:t>
            </a:r>
          </a:p>
        </p:txBody>
      </p:sp>
      <p:sp>
        <p:nvSpPr>
          <p:cNvPr id="100129" name="GitSteps"/>
          <p:cNvSpPr txBox="1"/>
          <p:nvPr/>
        </p:nvSpPr>
        <p:spPr>
          <a:xfrm xmlns:a="http://schemas.openxmlformats.org/drawingml/2006/main">
            <a:off x="360000" y="2592000"/>
            <a:ext cx="115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COMMANDS USED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# Initialize and configure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init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config user.name "..."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remote set-url origin https://github.com/isamaliya16/Project_1_IBM.git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# Stage and commit all files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add .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commit -m "feat: initial NutriGuide AI"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push -u origin main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# Update requirements fix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add requirements.txt nutrition_ai/requirements.txt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commit -m "fix: update ibm-watsonx-ai for Python 3.13"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</a:rPr>
              <a:t>git push origin main</a:t>
            </a:r>
          </a:p>
        </p:txBody>
      </p:sp>
      <p:sp>
        <p:nvSpPr>
          <p:cNvPr id="100130" name="GitignoreNote"/>
          <p:cNvSpPr txBox="1"/>
          <p:nvPr/>
        </p:nvSpPr>
        <p:spPr>
          <a:xfrm xmlns:a="http://schemas.openxmlformats.org/drawingml/2006/main">
            <a:off x="360000" y="5076000"/>
            <a:ext cx="115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.gitignore protects:  venv/  ·  .env (secrets)  ·  __pycache__/  ·  *.log  ·  .DS_Store  ·  generated plans (except sample)  ·  IDE files</a:t>
            </a:r>
          </a:p>
        </p:txBody>
      </p:sp>
      <p:sp>
        <p:nvSpPr>
          <p:cNvPr id="100131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2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3460"/>
              </a:solidFill>
            </a:endParaRPr>
          </a:p>
        </p:txBody>
      </p:sp>
      <p:sp>
        <p:nvSpPr>
          <p:cNvPr id="100133" name="AccentLine"/>
          <p:cNvSpPr txBox="1"/>
          <p:nvPr/>
        </p:nvSpPr>
        <p:spPr>
          <a:xfrm xmlns:a="http://schemas.openxmlformats.org/drawingml/2006/main">
            <a:off x="0" y="792000"/>
            <a:ext cx="121932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134" name="SlideTitle"/>
          <p:cNvSpPr txBox="1"/>
          <p:nvPr/>
        </p:nvSpPr>
        <p:spPr>
          <a:xfrm xmlns:a="http://schemas.openxmlformats.org/drawingml/2006/main">
            <a:off x="540000" y="108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Project Results &amp; Deliverables</a:t>
            </a:r>
          </a:p>
        </p:txBody>
      </p:sp>
      <p:sp>
        <p:nvSpPr>
          <p:cNvPr id="100135" name="SlideNum"/>
          <p:cNvSpPr txBox="1"/>
          <p:nvPr/>
        </p:nvSpPr>
        <p:spPr>
          <a:xfrm xmlns:a="http://schemas.openxmlformats.org/drawingml/2006/main">
            <a:off x="10800000" y="180000"/>
            <a:ext cx="1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200" b="1">
                <a:solidFill>
                  <a:srgbClr val="A8D8EA"/>
                </a:solidFill>
              </a:rPr>
              <a:t>14</a:t>
            </a:r>
          </a:p>
        </p:txBody>
      </p:sp>
      <p:sp>
        <p:nvSpPr>
          <p:cNvPr id="100136" name="Prompt1"/>
          <p:cNvSpPr txBox="1"/>
          <p:nvPr/>
        </p:nvSpPr>
        <p:spPr>
          <a:xfrm xmlns:a="http://schemas.openxmlformats.org/drawingml/2006/main">
            <a:off x="360000" y="1008000"/>
            <a:ext cx="36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PROMPT 1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Project Setup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GitHub repo created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18 files committed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2 commits pushed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.gitignore configured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README + requirements.txt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Branch: main</a:t>
            </a:r>
          </a:p>
        </p:txBody>
      </p:sp>
      <p:sp>
        <p:nvSpPr>
          <p:cNvPr id="100137" name="Prompt2"/>
          <p:cNvSpPr txBox="1"/>
          <p:nvPr/>
        </p:nvSpPr>
        <p:spPr>
          <a:xfrm xmlns:a="http://schemas.openxmlformats.org/drawingml/2006/main">
            <a:off x="4320000" y="1008000"/>
            <a:ext cx="36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PROMPT 2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Install &amp; Run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Python 3.13 compatible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venv created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34 packages installed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Flask server running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http://localhost:5000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Health API: status OK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Demo mode active</a:t>
            </a:r>
          </a:p>
        </p:txBody>
      </p:sp>
      <p:sp>
        <p:nvSpPr>
          <p:cNvPr id="100138" name="Prompt3"/>
          <p:cNvSpPr txBox="1"/>
          <p:nvPr/>
        </p:nvSpPr>
        <p:spPr>
          <a:xfrm xmlns:a="http://schemas.openxmlformats.org/drawingml/2006/main">
            <a:off x="8280000" y="1008000"/>
            <a:ext cx="36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PROMPT 3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Presentation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15-slide PPTX created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Sample .md plan included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Priya Sharma case study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All SDLC phases covered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Architecture diagram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API endpoints documented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Ethics slide included</a:t>
            </a:r>
          </a:p>
        </p:txBody>
      </p:sp>
      <p:sp>
        <p:nvSpPr>
          <p:cNvPr id="100139" name="KeyAchievements"/>
          <p:cNvSpPr txBox="1"/>
          <p:nvPr/>
        </p:nvSpPr>
        <p:spPr>
          <a:xfrm xmlns:a="http://schemas.openxmlformats.org/drawingml/2006/main">
            <a:off x="360000" y="3888000"/>
            <a:ext cx="115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KEY ACHIEVEMENTS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Full Agentic AI SDLC followed (9 phases)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IBM Granite 13B LLM integrated with fallback demo mode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4-layer GuardrailEngine for AI safety and ethics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Responsive web app with 3 functional tabs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Diabetes-specific sample plan (Priya Sharma, Mumbai) generated as .md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API health endpoint confirmed running: {"status": "ok", "model": "IBM Granite"}</a:t>
            </a:r>
          </a:p>
          <a:p xmlns:a="http://schemas.openxmlformats.org/drawingml/2006/main">
            <a:r>
              <a:rPr lang="en-US" sz="1500">
                <a:solidFill>
                  <a:srgbClr val="1A1A2E"/>
                </a:solidFill>
              </a:rPr>
              <a:t>• Python 3.13 compatibility resolved (ibm-watsonx-ai 1.8.0 + pre-built pandas wheels)</a:t>
            </a:r>
          </a:p>
        </p:txBody>
      </p:sp>
      <p:sp>
        <p:nvSpPr>
          <p:cNvPr id="100140" name="Footer"/>
          <p:cNvSpPr txBox="1"/>
          <p:nvPr/>
        </p:nvSpPr>
        <p:spPr>
          <a:xfrm xmlns:a="http://schemas.openxmlformats.org/drawingml/2006/main">
            <a:off x="0" y="6552000"/>
            <a:ext cx="121932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888888"/>
                </a:solidFill>
              </a:rPr>
              <a:t>NutriGuide AI  ·  IBM Granite  ·  IBM watsonx.ai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141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6213E"/>
              </a:solidFill>
            </a:endParaRPr>
          </a:p>
        </p:txBody>
      </p:sp>
      <p:sp>
        <p:nvSpPr>
          <p:cNvPr id="100142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94560"/>
              </a:solidFill>
            </a:endParaRPr>
          </a:p>
        </p:txBody>
      </p:sp>
      <p:sp>
        <p:nvSpPr>
          <p:cNvPr id="100143" name="Icon"/>
          <p:cNvSpPr txBox="1"/>
          <p:nvPr/>
        </p:nvSpPr>
        <p:spPr>
          <a:xfrm xmlns:a="http://schemas.openxmlformats.org/drawingml/2006/main">
            <a:off x="5040000" y="540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🥗</a:t>
            </a:r>
          </a:p>
        </p:txBody>
      </p:sp>
      <p:sp>
        <p:nvSpPr>
          <p:cNvPr id="100144" name="ThankYou"/>
          <p:cNvSpPr txBox="1"/>
          <p:nvPr/>
        </p:nvSpPr>
        <p:spPr>
          <a:xfrm xmlns:a="http://schemas.openxmlformats.org/drawingml/2006/main">
            <a:off x="720000" y="1728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00145" name="AppName"/>
          <p:cNvSpPr txBox="1"/>
          <p:nvPr/>
        </p:nvSpPr>
        <p:spPr>
          <a:xfrm xmlns:a="http://schemas.openxmlformats.org/drawingml/2006/main">
            <a:off x="720000" y="2808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A8D8EA"/>
                </a:solidFill>
              </a:rPr>
              <a:t>NutriGuide AI</a:t>
            </a:r>
          </a:p>
        </p:txBody>
      </p:sp>
      <p:sp>
        <p:nvSpPr>
          <p:cNvPr id="100146" name="Tagline"/>
          <p:cNvSpPr txBox="1"/>
          <p:nvPr/>
        </p:nvSpPr>
        <p:spPr>
          <a:xfrm xmlns:a="http://schemas.openxmlformats.org/drawingml/2006/main">
            <a:off x="720000" y="352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C8D8E8"/>
                </a:solidFill>
              </a:rPr>
              <a:t>Personalized Nutrition · IBM Granite LLM · Agentic AI SDLC · HAM Principles</a:t>
            </a:r>
          </a:p>
        </p:txBody>
      </p:sp>
      <p:sp>
        <p:nvSpPr>
          <p:cNvPr id="100147" name="Links"/>
          <p:cNvSpPr txBox="1"/>
          <p:nvPr/>
        </p:nvSpPr>
        <p:spPr>
          <a:xfrm xmlns:a="http://schemas.openxmlformats.org/drawingml/2006/main">
            <a:off x="2160000" y="414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E94560"/>
                </a:solidFill>
              </a:rPr>
              <a:t>GitHub:  https://github.com/isamaliya16/Project_1_IBM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E94560"/>
                </a:solidFill>
              </a:rPr>
              <a:t>App:      http://localhost:5000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E94560"/>
                </a:solidFill>
              </a:rPr>
              <a:t>API:       http://localhost:5000/api/health</a:t>
            </a:r>
          </a:p>
        </p:txBody>
      </p:sp>
      <p:sp>
        <p:nvSpPr>
          <p:cNvPr id="100148" name="Disclaimer"/>
          <p:cNvSpPr txBox="1"/>
          <p:nvPr/>
        </p:nvSpPr>
        <p:spPr>
          <a:xfrm xmlns:a="http://schemas.openxmlformats.org/drawingml/2006/main">
            <a:off x="720000" y="55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8899AA"/>
                </a:solidFill>
              </a:rPr>
              <a:t>⚕️ Not a substitute for professional medical advice. Consult a qualified healthcare provider for medical decisions.</a:t>
            </a:r>
          </a:p>
        </p:txBody>
      </p:sp>
      <p:sp>
        <p:nvSpPr>
          <p:cNvPr id="100149" name="IBMLine"/>
          <p:cNvSpPr txBox="1"/>
          <p:nvPr/>
        </p:nvSpPr>
        <p:spPr>
          <a:xfrm xmlns:a="http://schemas.openxmlformats.org/drawingml/2006/main">
            <a:off x="720000" y="5976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8D8EA"/>
                </a:solidFill>
              </a:rPr>
              <a:t>Powered by IBM Granite  ·  IBM watsonx.ai  ·  IBM SkillBuild Project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2026-10-13T09:36:30Z</dcterms:created>
  <cp:lastModifiedBy>OfficeCLI</cp:lastModifiedBy>
  <dcterms:modified xsi:type="dcterms:W3CDTF">2026-10-13T09:36:30Z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2026-10-13T09:42:43Z</vt:lpwstr>
  </op:property>
</op:Properties>
</file>